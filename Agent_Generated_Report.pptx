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2DD4BF"/>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DD4BF"/>
              </a:solidFill>
              <a:effectLst/>
            </c:spPr>
          </c:dPt>
          <c:dPt>
            <c:idx val="1"/>
            <c:invertIfNegative val="0"/>
            <c:bubble3D val="0"/>
            <c:spPr>
              <a:solidFill>
                <a:srgbClr val="0F766E"/>
              </a:solidFill>
              <a:effectLst/>
            </c:spPr>
          </c:dPt>
          <c:dPt>
            <c:idx val="2"/>
            <c:invertIfNegative val="0"/>
            <c:bubble3D val="0"/>
            <c:spPr>
              <a:solidFill>
                <a:srgbClr val="0F766E"/>
              </a:solidFill>
              <a:effectLst/>
            </c:spPr>
          </c:dPt>
          <c:dPt>
            <c:idx val="3"/>
            <c:invertIfNegative val="0"/>
            <c:bubble3D val="0"/>
            <c:spPr>
              <a:solidFill>
                <a:srgbClr val="F59E0B"/>
              </a:solidFill>
              <a:effectLst/>
            </c:spPr>
          </c:dPt>
          <c:cat>
            <c:multiLvlStrRef>
              <c:f>Sheet1!$A$2:$A$5</c:f>
              <c:multiLvlStrCache>
                <c:ptCount val="4"/>
                <c:lvl>
                  <c:pt idx="0">
                    <c:v>North</c:v>
                  </c:pt>
                  <c:pt idx="1">
                    <c:v>West</c:v>
                  </c:pt>
                  <c:pt idx="2">
                    <c:v>East</c:v>
                  </c:pt>
                  <c:pt idx="3">
                    <c:v>South</c:v>
                  </c:pt>
                </c:lvl>
              </c:multiLvlStrCache>
            </c:multiLvlStrRef>
          </c:cat>
          <c:val>
            <c:numRef>
              <c:f>Sheet1!$B$2:$B$5</c:f>
              <c:numCache>
                <c:formatCode>General</c:formatCode>
                <c:ptCount val="4"/>
                <c:pt idx="0">
                  <c:v>1210500</c:v>
                </c:pt>
                <c:pt idx="1">
                  <c:v>1184500</c:v>
                </c:pt>
                <c:pt idx="2">
                  <c:v>847000</c:v>
                </c:pt>
                <c:pt idx="3">
                  <c:v>565000</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731520"/>
            <a:ext cx="7315200" cy="365760"/>
          </a:xfrm>
          <a:prstGeom prst="rect">
            <a:avLst/>
          </a:prstGeom>
          <a:noFill/>
          <a:ln/>
        </p:spPr>
        <p:txBody>
          <a:bodyPr wrap="square" rtlCol="0" anchor="ctr"/>
          <a:lstStyle/>
          <a:p>
            <a:pPr indent="0" marL="0">
              <a:buNone/>
            </a:pPr>
            <a:r>
              <a:rPr lang="en-US" sz="1200" spc="200" kern="0" dirty="0">
                <a:solidFill>
                  <a:srgbClr val="2DD4BF"/>
                </a:solidFill>
                <a:latin typeface="Consolas" pitchFamily="34" charset="0"/>
                <a:ea typeface="Consolas" pitchFamily="34" charset="-122"/>
                <a:cs typeface="Consolas" pitchFamily="34" charset="-120"/>
              </a:rPr>
              <a:t>AGENTIC PIPELINE OUTPUT</a:t>
            </a:r>
            <a:endParaRPr lang="en-US" sz="1200" dirty="0"/>
          </a:p>
        </p:txBody>
      </p:sp>
      <p:sp>
        <p:nvSpPr>
          <p:cNvPr id="3" name="Text 1"/>
          <p:cNvSpPr/>
          <p:nvPr/>
        </p:nvSpPr>
        <p:spPr>
          <a:xfrm>
            <a:off x="640080" y="1188720"/>
            <a:ext cx="1051560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Executive Summary: Strategic Revenue Drivers &amp; Regional Optimization</a:t>
            </a:r>
            <a:endParaRPr lang="en-US" sz="4000" dirty="0"/>
          </a:p>
        </p:txBody>
      </p:sp>
      <p:sp>
        <p:nvSpPr>
          <p:cNvPr id="4" name="Text 2"/>
          <p:cNvSpPr/>
          <p:nvPr/>
        </p:nvSpPr>
        <p:spPr>
          <a:xfrm>
            <a:off x="640080" y="2651760"/>
            <a:ext cx="8229600" cy="457200"/>
          </a:xfrm>
          <a:prstGeom prst="rect">
            <a:avLst/>
          </a:prstGeom>
          <a:noFill/>
          <a:ln/>
        </p:spPr>
        <p:txBody>
          <a:bodyPr wrap="square" rtlCol="0" anchor="ctr"/>
          <a:lstStyle/>
          <a:p>
            <a:pPr indent="0" marL="0">
              <a:buNone/>
            </a:pPr>
            <a:r>
              <a:rPr lang="en-US" sz="1500" i="1" dirty="0">
                <a:solidFill>
                  <a:srgbClr val="94A3B8"/>
                </a:solidFill>
                <a:latin typeface="Arial" pitchFamily="34" charset="0"/>
                <a:ea typeface="Arial" pitchFamily="34" charset="-122"/>
                <a:cs typeface="Arial" pitchFamily="34" charset="-120"/>
              </a:rPr>
              <a:t>Generated autonomously by a 4-stage AI agent pipeline</a:t>
            </a:r>
            <a:endParaRPr lang="en-US" sz="1500" dirty="0"/>
          </a:p>
        </p:txBody>
      </p:sp>
      <p:sp>
        <p:nvSpPr>
          <p:cNvPr id="5" name="Shape 3"/>
          <p:cNvSpPr/>
          <p:nvPr/>
        </p:nvSpPr>
        <p:spPr>
          <a:xfrm>
            <a:off x="640080" y="3840480"/>
            <a:ext cx="2377440" cy="731520"/>
          </a:xfrm>
          <a:prstGeom prst="roundRect">
            <a:avLst>
              <a:gd name="adj" fmla="val 10000"/>
            </a:avLst>
          </a:prstGeom>
          <a:solidFill>
            <a:srgbClr val="131B2E"/>
          </a:solidFill>
          <a:ln w="12700">
            <a:solidFill>
              <a:srgbClr val="1E293B"/>
            </a:solidFill>
            <a:prstDash val="solid"/>
          </a:ln>
        </p:spPr>
      </p:sp>
      <p:sp>
        <p:nvSpPr>
          <p:cNvPr id="6" name="Text 4"/>
          <p:cNvSpPr/>
          <p:nvPr/>
        </p:nvSpPr>
        <p:spPr>
          <a:xfrm>
            <a:off x="777240" y="3977640"/>
            <a:ext cx="457200" cy="457200"/>
          </a:xfrm>
          <a:prstGeom prst="rect">
            <a:avLst/>
          </a:prstGeom>
          <a:noFill/>
          <a:ln/>
        </p:spPr>
        <p:txBody>
          <a:bodyPr wrap="square" lIns="0" tIns="0" rIns="0" bIns="0" rtlCol="0" anchor="ctr"/>
          <a:lstStyle/>
          <a:p>
            <a:pPr algn="ctr" indent="0" marL="0">
              <a:buNone/>
            </a:pPr>
            <a:r>
              <a:rPr lang="en-US" sz="1800" b="1" dirty="0">
                <a:solidFill>
                  <a:srgbClr val="2DD4BF"/>
                </a:solidFill>
                <a:latin typeface="Consolas" pitchFamily="34" charset="0"/>
                <a:ea typeface="Consolas" pitchFamily="34" charset="-122"/>
                <a:cs typeface="Consolas" pitchFamily="34" charset="-120"/>
              </a:rPr>
              <a:t>1</a:t>
            </a:r>
            <a:endParaRPr lang="en-US" sz="1800" dirty="0"/>
          </a:p>
        </p:txBody>
      </p:sp>
      <p:sp>
        <p:nvSpPr>
          <p:cNvPr id="7" name="Text 5"/>
          <p:cNvSpPr/>
          <p:nvPr/>
        </p:nvSpPr>
        <p:spPr>
          <a:xfrm>
            <a:off x="1188720" y="4023360"/>
            <a:ext cx="1737360" cy="365760"/>
          </a:xfrm>
          <a:prstGeom prst="rect">
            <a:avLst/>
          </a:prstGeom>
          <a:noFill/>
          <a:ln/>
        </p:spPr>
        <p:txBody>
          <a:bodyPr wrap="square" lIns="0" tIns="0" rIns="0" bIns="0" rtlCol="0" anchor="ctr"/>
          <a:lstStyle/>
          <a:p>
            <a:pPr indent="0" marL="0">
              <a:buNone/>
            </a:pPr>
            <a:r>
              <a:rPr lang="en-US" sz="1250" b="1" dirty="0">
                <a:solidFill>
                  <a:srgbClr val="E5E9F0"/>
                </a:solidFill>
                <a:latin typeface="Arial" pitchFamily="34" charset="0"/>
                <a:ea typeface="Arial" pitchFamily="34" charset="-122"/>
                <a:cs typeface="Arial" pitchFamily="34" charset="-120"/>
              </a:rPr>
              <a:t>Profiler</a:t>
            </a:r>
            <a:endParaRPr lang="en-US" sz="1250" dirty="0"/>
          </a:p>
        </p:txBody>
      </p:sp>
      <p:sp>
        <p:nvSpPr>
          <p:cNvPr id="8" name="Shape 6"/>
          <p:cNvSpPr/>
          <p:nvPr/>
        </p:nvSpPr>
        <p:spPr>
          <a:xfrm>
            <a:off x="3017520" y="4206240"/>
            <a:ext cx="274320" cy="0"/>
          </a:xfrm>
          <a:prstGeom prst="line">
            <a:avLst/>
          </a:prstGeom>
          <a:noFill/>
          <a:ln w="19050">
            <a:solidFill>
              <a:srgbClr val="334155"/>
            </a:solidFill>
            <a:prstDash val="solid"/>
          </a:ln>
        </p:spPr>
      </p:sp>
      <p:sp>
        <p:nvSpPr>
          <p:cNvPr id="9" name="Shape 7"/>
          <p:cNvSpPr/>
          <p:nvPr/>
        </p:nvSpPr>
        <p:spPr>
          <a:xfrm>
            <a:off x="3291840" y="3840480"/>
            <a:ext cx="2377440" cy="731520"/>
          </a:xfrm>
          <a:prstGeom prst="roundRect">
            <a:avLst>
              <a:gd name="adj" fmla="val 10000"/>
            </a:avLst>
          </a:prstGeom>
          <a:solidFill>
            <a:srgbClr val="131B2E"/>
          </a:solidFill>
          <a:ln w="12700">
            <a:solidFill>
              <a:srgbClr val="1E293B"/>
            </a:solidFill>
            <a:prstDash val="solid"/>
          </a:ln>
        </p:spPr>
      </p:sp>
      <p:sp>
        <p:nvSpPr>
          <p:cNvPr id="10" name="Text 8"/>
          <p:cNvSpPr/>
          <p:nvPr/>
        </p:nvSpPr>
        <p:spPr>
          <a:xfrm>
            <a:off x="3429000" y="3977640"/>
            <a:ext cx="457200" cy="457200"/>
          </a:xfrm>
          <a:prstGeom prst="rect">
            <a:avLst/>
          </a:prstGeom>
          <a:noFill/>
          <a:ln/>
        </p:spPr>
        <p:txBody>
          <a:bodyPr wrap="square" lIns="0" tIns="0" rIns="0" bIns="0" rtlCol="0" anchor="ctr"/>
          <a:lstStyle/>
          <a:p>
            <a:pPr algn="ctr" indent="0" marL="0">
              <a:buNone/>
            </a:pPr>
            <a:r>
              <a:rPr lang="en-US" sz="1800" b="1" dirty="0">
                <a:solidFill>
                  <a:srgbClr val="2DD4BF"/>
                </a:solidFill>
                <a:latin typeface="Consolas" pitchFamily="34" charset="0"/>
                <a:ea typeface="Consolas" pitchFamily="34" charset="-122"/>
                <a:cs typeface="Consolas" pitchFamily="34" charset="-120"/>
              </a:rPr>
              <a:t>2</a:t>
            </a:r>
            <a:endParaRPr lang="en-US" sz="1800" dirty="0"/>
          </a:p>
        </p:txBody>
      </p:sp>
      <p:sp>
        <p:nvSpPr>
          <p:cNvPr id="11" name="Text 9"/>
          <p:cNvSpPr/>
          <p:nvPr/>
        </p:nvSpPr>
        <p:spPr>
          <a:xfrm>
            <a:off x="3840480" y="4023360"/>
            <a:ext cx="1737360" cy="365760"/>
          </a:xfrm>
          <a:prstGeom prst="rect">
            <a:avLst/>
          </a:prstGeom>
          <a:noFill/>
          <a:ln/>
        </p:spPr>
        <p:txBody>
          <a:bodyPr wrap="square" lIns="0" tIns="0" rIns="0" bIns="0" rtlCol="0" anchor="ctr"/>
          <a:lstStyle/>
          <a:p>
            <a:pPr indent="0" marL="0">
              <a:buNone/>
            </a:pPr>
            <a:r>
              <a:rPr lang="en-US" sz="1250" b="1" dirty="0">
                <a:solidFill>
                  <a:srgbClr val="E5E9F0"/>
                </a:solidFill>
                <a:latin typeface="Arial" pitchFamily="34" charset="0"/>
                <a:ea typeface="Arial" pitchFamily="34" charset="-122"/>
                <a:cs typeface="Arial" pitchFamily="34" charset="-120"/>
              </a:rPr>
              <a:t>Insight Agent</a:t>
            </a:r>
            <a:endParaRPr lang="en-US" sz="1250" dirty="0"/>
          </a:p>
        </p:txBody>
      </p:sp>
      <p:sp>
        <p:nvSpPr>
          <p:cNvPr id="12" name="Shape 10"/>
          <p:cNvSpPr/>
          <p:nvPr/>
        </p:nvSpPr>
        <p:spPr>
          <a:xfrm>
            <a:off x="5669280" y="4206240"/>
            <a:ext cx="274320" cy="0"/>
          </a:xfrm>
          <a:prstGeom prst="line">
            <a:avLst/>
          </a:prstGeom>
          <a:noFill/>
          <a:ln w="19050">
            <a:solidFill>
              <a:srgbClr val="334155"/>
            </a:solidFill>
            <a:prstDash val="solid"/>
          </a:ln>
        </p:spPr>
      </p:sp>
      <p:sp>
        <p:nvSpPr>
          <p:cNvPr id="13" name="Shape 11"/>
          <p:cNvSpPr/>
          <p:nvPr/>
        </p:nvSpPr>
        <p:spPr>
          <a:xfrm>
            <a:off x="5943600" y="3840480"/>
            <a:ext cx="2377440" cy="731520"/>
          </a:xfrm>
          <a:prstGeom prst="roundRect">
            <a:avLst>
              <a:gd name="adj" fmla="val 10000"/>
            </a:avLst>
          </a:prstGeom>
          <a:solidFill>
            <a:srgbClr val="131B2E"/>
          </a:solidFill>
          <a:ln w="12700">
            <a:solidFill>
              <a:srgbClr val="1E293B"/>
            </a:solidFill>
            <a:prstDash val="solid"/>
          </a:ln>
        </p:spPr>
      </p:sp>
      <p:sp>
        <p:nvSpPr>
          <p:cNvPr id="14" name="Text 12"/>
          <p:cNvSpPr/>
          <p:nvPr/>
        </p:nvSpPr>
        <p:spPr>
          <a:xfrm>
            <a:off x="6080760" y="3977640"/>
            <a:ext cx="457200" cy="457200"/>
          </a:xfrm>
          <a:prstGeom prst="rect">
            <a:avLst/>
          </a:prstGeom>
          <a:noFill/>
          <a:ln/>
        </p:spPr>
        <p:txBody>
          <a:bodyPr wrap="square" lIns="0" tIns="0" rIns="0" bIns="0" rtlCol="0" anchor="ctr"/>
          <a:lstStyle/>
          <a:p>
            <a:pPr algn="ctr" indent="0" marL="0">
              <a:buNone/>
            </a:pPr>
            <a:r>
              <a:rPr lang="en-US" sz="1800" b="1" dirty="0">
                <a:solidFill>
                  <a:srgbClr val="2DD4BF"/>
                </a:solidFill>
                <a:latin typeface="Consolas" pitchFamily="34" charset="0"/>
                <a:ea typeface="Consolas" pitchFamily="34" charset="-122"/>
                <a:cs typeface="Consolas" pitchFamily="34" charset="-120"/>
              </a:rPr>
              <a:t>3</a:t>
            </a:r>
            <a:endParaRPr lang="en-US" sz="1800" dirty="0"/>
          </a:p>
        </p:txBody>
      </p:sp>
      <p:sp>
        <p:nvSpPr>
          <p:cNvPr id="15" name="Text 13"/>
          <p:cNvSpPr/>
          <p:nvPr/>
        </p:nvSpPr>
        <p:spPr>
          <a:xfrm>
            <a:off x="6492240" y="4023360"/>
            <a:ext cx="1737360" cy="365760"/>
          </a:xfrm>
          <a:prstGeom prst="rect">
            <a:avLst/>
          </a:prstGeom>
          <a:noFill/>
          <a:ln/>
        </p:spPr>
        <p:txBody>
          <a:bodyPr wrap="square" lIns="0" tIns="0" rIns="0" bIns="0" rtlCol="0" anchor="ctr"/>
          <a:lstStyle/>
          <a:p>
            <a:pPr indent="0" marL="0">
              <a:buNone/>
            </a:pPr>
            <a:r>
              <a:rPr lang="en-US" sz="1250" b="1" dirty="0">
                <a:solidFill>
                  <a:srgbClr val="E5E9F0"/>
                </a:solidFill>
                <a:latin typeface="Arial" pitchFamily="34" charset="0"/>
                <a:ea typeface="Arial" pitchFamily="34" charset="-122"/>
                <a:cs typeface="Arial" pitchFamily="34" charset="-120"/>
              </a:rPr>
              <a:t>Strategy Agent</a:t>
            </a:r>
            <a:endParaRPr lang="en-US" sz="1250" dirty="0"/>
          </a:p>
        </p:txBody>
      </p:sp>
      <p:sp>
        <p:nvSpPr>
          <p:cNvPr id="16" name="Shape 14"/>
          <p:cNvSpPr/>
          <p:nvPr/>
        </p:nvSpPr>
        <p:spPr>
          <a:xfrm>
            <a:off x="8321040" y="4206240"/>
            <a:ext cx="274320" cy="0"/>
          </a:xfrm>
          <a:prstGeom prst="line">
            <a:avLst/>
          </a:prstGeom>
          <a:noFill/>
          <a:ln w="19050">
            <a:solidFill>
              <a:srgbClr val="334155"/>
            </a:solidFill>
            <a:prstDash val="solid"/>
          </a:ln>
        </p:spPr>
      </p:sp>
      <p:sp>
        <p:nvSpPr>
          <p:cNvPr id="17" name="Shape 15"/>
          <p:cNvSpPr/>
          <p:nvPr/>
        </p:nvSpPr>
        <p:spPr>
          <a:xfrm>
            <a:off x="8595360" y="3840480"/>
            <a:ext cx="2377440" cy="731520"/>
          </a:xfrm>
          <a:prstGeom prst="roundRect">
            <a:avLst>
              <a:gd name="adj" fmla="val 10000"/>
            </a:avLst>
          </a:prstGeom>
          <a:solidFill>
            <a:srgbClr val="131B2E"/>
          </a:solidFill>
          <a:ln w="12700">
            <a:solidFill>
              <a:srgbClr val="1E293B"/>
            </a:solidFill>
            <a:prstDash val="solid"/>
          </a:ln>
        </p:spPr>
      </p:sp>
      <p:sp>
        <p:nvSpPr>
          <p:cNvPr id="18" name="Text 16"/>
          <p:cNvSpPr/>
          <p:nvPr/>
        </p:nvSpPr>
        <p:spPr>
          <a:xfrm>
            <a:off x="8732520" y="3977640"/>
            <a:ext cx="457200" cy="457200"/>
          </a:xfrm>
          <a:prstGeom prst="rect">
            <a:avLst/>
          </a:prstGeom>
          <a:noFill/>
          <a:ln/>
        </p:spPr>
        <p:txBody>
          <a:bodyPr wrap="square" lIns="0" tIns="0" rIns="0" bIns="0" rtlCol="0" anchor="ctr"/>
          <a:lstStyle/>
          <a:p>
            <a:pPr algn="ctr" indent="0" marL="0">
              <a:buNone/>
            </a:pPr>
            <a:r>
              <a:rPr lang="en-US" sz="1800" b="1" dirty="0">
                <a:solidFill>
                  <a:srgbClr val="2DD4BF"/>
                </a:solidFill>
                <a:latin typeface="Consolas" pitchFamily="34" charset="0"/>
                <a:ea typeface="Consolas" pitchFamily="34" charset="-122"/>
                <a:cs typeface="Consolas" pitchFamily="34" charset="-120"/>
              </a:rPr>
              <a:t>4</a:t>
            </a:r>
            <a:endParaRPr lang="en-US" sz="1800" dirty="0"/>
          </a:p>
        </p:txBody>
      </p:sp>
      <p:sp>
        <p:nvSpPr>
          <p:cNvPr id="19" name="Text 17"/>
          <p:cNvSpPr/>
          <p:nvPr/>
        </p:nvSpPr>
        <p:spPr>
          <a:xfrm>
            <a:off x="9144000" y="4023360"/>
            <a:ext cx="1737360" cy="365760"/>
          </a:xfrm>
          <a:prstGeom prst="rect">
            <a:avLst/>
          </a:prstGeom>
          <a:noFill/>
          <a:ln/>
        </p:spPr>
        <p:txBody>
          <a:bodyPr wrap="square" lIns="0" tIns="0" rIns="0" bIns="0" rtlCol="0" anchor="ctr"/>
          <a:lstStyle/>
          <a:p>
            <a:pPr indent="0" marL="0">
              <a:buNone/>
            </a:pPr>
            <a:r>
              <a:rPr lang="en-US" sz="1250" b="1" dirty="0">
                <a:solidFill>
                  <a:srgbClr val="E5E9F0"/>
                </a:solidFill>
                <a:latin typeface="Arial" pitchFamily="34" charset="0"/>
                <a:ea typeface="Arial" pitchFamily="34" charset="-122"/>
                <a:cs typeface="Arial" pitchFamily="34" charset="-120"/>
              </a:rPr>
              <a:t>Report Composer</a:t>
            </a:r>
            <a:endParaRPr lang="en-US" sz="1250" dirty="0"/>
          </a:p>
        </p:txBody>
      </p:sp>
      <p:sp>
        <p:nvSpPr>
          <p:cNvPr id="20" name="Text 18"/>
          <p:cNvSpPr/>
          <p:nvPr/>
        </p:nvSpPr>
        <p:spPr>
          <a:xfrm>
            <a:off x="640080" y="6309360"/>
            <a:ext cx="7315200" cy="274320"/>
          </a:xfrm>
          <a:prstGeom prst="rect">
            <a:avLst/>
          </a:prstGeom>
          <a:noFill/>
          <a:ln/>
        </p:spPr>
        <p:txBody>
          <a:bodyPr wrap="square" rtlCol="0" anchor="ctr"/>
          <a:lstStyle/>
          <a:p>
            <a:pPr indent="0" marL="0">
              <a:buNone/>
            </a:pPr>
            <a:r>
              <a:rPr lang="en-US" sz="950" dirty="0">
                <a:solidFill>
                  <a:srgbClr val="475569"/>
                </a:solidFill>
                <a:latin typeface="Consolas" pitchFamily="34" charset="0"/>
                <a:ea typeface="Consolas" pitchFamily="34" charset="-122"/>
                <a:cs typeface="Consolas" pitchFamily="34" charset="-120"/>
              </a:rPr>
              <a:t>Data source: retail sales dataset, 24 rows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indent="0" marL="0">
              <a:buNone/>
            </a:pPr>
            <a:r>
              <a:rPr lang="en-US" sz="1200" spc="200" kern="0" dirty="0">
                <a:solidFill>
                  <a:srgbClr val="0F766E"/>
                </a:solidFill>
                <a:latin typeface="Consolas" pitchFamily="34" charset="0"/>
                <a:ea typeface="Consolas" pitchFamily="34" charset="-122"/>
                <a:cs typeface="Consolas" pitchFamily="34" charset="-120"/>
              </a:rPr>
              <a:t>EXECUTIVE SUMMARY</a:t>
            </a:r>
            <a:endParaRPr lang="en-US" sz="1200" dirty="0"/>
          </a:p>
        </p:txBody>
      </p:sp>
      <p:sp>
        <p:nvSpPr>
          <p:cNvPr id="3" name="Text 1"/>
          <p:cNvSpPr/>
          <p:nvPr/>
        </p:nvSpPr>
        <p:spPr>
          <a:xfrm>
            <a:off x="640080" y="1188720"/>
            <a:ext cx="10515600" cy="2743200"/>
          </a:xfrm>
          <a:prstGeom prst="rect">
            <a:avLst/>
          </a:prstGeom>
          <a:noFill/>
          <a:ln/>
        </p:spPr>
        <p:txBody>
          <a:bodyPr wrap="square" lIns="0" tIns="0" rIns="0" bIns="0" rtlCol="0" anchor="ctr"/>
          <a:lstStyle/>
          <a:p>
            <a:pPr indent="0" marL="0">
              <a:lnSpc>
                <a:spcPct val="135000"/>
              </a:lnSpc>
              <a:buNone/>
            </a:pPr>
            <a:r>
              <a:rPr lang="en-US" sz="2200" dirty="0">
                <a:solidFill>
                  <a:srgbClr val="1E293B"/>
                </a:solidFill>
                <a:latin typeface="Georgia" pitchFamily="34" charset="0"/>
                <a:ea typeface="Georgia" pitchFamily="34" charset="-122"/>
                <a:cs typeface="Georgia" pitchFamily="34" charset="-120"/>
              </a:rPr>
              <a:t>Enterprise performance is strongly anchored by high-yield Automation Kits, which generate nearly half of overall revenue and present an immediate cross-selling opportunity across our broad Safety Equipment customer base. Regionally, the West is on track to displace the North as our primary revenue driver by Q3, while the South suffers from severe revenue contraction caused by deep discounting despite strong unit sales volume. Capitalizing on these dynamics requires enforcing strict pricing guardrails in the South, reallocating field resources to accelerate growth in the West, and launching targeted campaigns to convert high-volume accounts into high-ARPU automation clients.</a:t>
            </a:r>
            <a:endParaRPr lang="en-US" sz="2200" dirty="0"/>
          </a:p>
        </p:txBody>
      </p:sp>
      <p:sp>
        <p:nvSpPr>
          <p:cNvPr id="4" name="Shape 2"/>
          <p:cNvSpPr/>
          <p:nvPr/>
        </p:nvSpPr>
        <p:spPr>
          <a:xfrm>
            <a:off x="640080" y="4297680"/>
            <a:ext cx="10515600" cy="1463040"/>
          </a:xfrm>
          <a:prstGeom prst="roundRect">
            <a:avLst>
              <a:gd name="adj" fmla="val 5000"/>
            </a:avLst>
          </a:prstGeom>
          <a:solidFill>
            <a:srgbClr val="F1F5F9"/>
          </a:solidFill>
          <a:ln w="12700">
            <a:solidFill>
              <a:srgbClr val="E2E8F0"/>
            </a:solidFill>
            <a:prstDash val="solid"/>
          </a:ln>
        </p:spPr>
      </p:sp>
      <p:sp>
        <p:nvSpPr>
          <p:cNvPr id="5" name="Text 3"/>
          <p:cNvSpPr/>
          <p:nvPr/>
        </p:nvSpPr>
        <p:spPr>
          <a:xfrm>
            <a:off x="914400" y="4480560"/>
            <a:ext cx="3657600" cy="320040"/>
          </a:xfrm>
          <a:prstGeom prst="rect">
            <a:avLst/>
          </a:prstGeom>
          <a:noFill/>
          <a:ln/>
        </p:spPr>
        <p:txBody>
          <a:bodyPr wrap="square" rtlCol="0" anchor="ctr"/>
          <a:lstStyle/>
          <a:p>
            <a:pPr indent="0" marL="0">
              <a:buNone/>
            </a:pPr>
            <a:r>
              <a:rPr lang="en-US" sz="1050" spc="150" kern="0" dirty="0">
                <a:solidFill>
                  <a:srgbClr val="0F766E"/>
                </a:solidFill>
                <a:latin typeface="Consolas" pitchFamily="34" charset="0"/>
                <a:ea typeface="Consolas" pitchFamily="34" charset="-122"/>
                <a:cs typeface="Consolas" pitchFamily="34" charset="-120"/>
              </a:rPr>
              <a:t>BOTTOM LINE</a:t>
            </a:r>
            <a:endParaRPr lang="en-US" sz="1050" dirty="0"/>
          </a:p>
        </p:txBody>
      </p:sp>
      <p:sp>
        <p:nvSpPr>
          <p:cNvPr id="6" name="Text 4"/>
          <p:cNvSpPr/>
          <p:nvPr/>
        </p:nvSpPr>
        <p:spPr>
          <a:xfrm>
            <a:off x="914400" y="4800600"/>
            <a:ext cx="9966960" cy="822960"/>
          </a:xfrm>
          <a:prstGeom prst="rect">
            <a:avLst/>
          </a:prstGeom>
          <a:noFill/>
          <a:ln/>
        </p:spPr>
        <p:txBody>
          <a:bodyPr wrap="square" lIns="0" tIns="0" rIns="0" bIns="0" rtlCol="0" anchor="ctr"/>
          <a:lstStyle/>
          <a:p>
            <a:pPr indent="0" marL="0">
              <a:buNone/>
            </a:pPr>
            <a:r>
              <a:rPr lang="en-US" sz="1600" i="1" dirty="0">
                <a:solidFill>
                  <a:srgbClr val="334155"/>
                </a:solidFill>
                <a:latin typeface="Arial" pitchFamily="34" charset="0"/>
                <a:ea typeface="Arial" pitchFamily="34" charset="-122"/>
                <a:cs typeface="Arial" pitchFamily="34" charset="-120"/>
              </a:rPr>
              <a:t>Executing these key strategic shifts will stabilize regional margins, accelerate market expansion, and maximize enterprise revenue yield.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00" spc="200" kern="0" dirty="0">
                <a:solidFill>
                  <a:srgbClr val="2DD4BF"/>
                </a:solidFill>
                <a:latin typeface="Consolas" pitchFamily="34" charset="0"/>
                <a:ea typeface="Consolas" pitchFamily="34" charset="-122"/>
                <a:cs typeface="Consolas" pitchFamily="34" charset="-120"/>
              </a:rPr>
              <a:t>KEY FINDINGS</a:t>
            </a:r>
            <a:endParaRPr lang="en-US" sz="1200" dirty="0"/>
          </a:p>
        </p:txBody>
      </p:sp>
      <p:sp>
        <p:nvSpPr>
          <p:cNvPr id="3" name="Text 1"/>
          <p:cNvSpPr/>
          <p:nvPr/>
        </p:nvSpPr>
        <p:spPr>
          <a:xfrm>
            <a:off x="640080" y="777240"/>
            <a:ext cx="822960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What the Insight Agent surfaced</a:t>
            </a:r>
            <a:endParaRPr lang="en-US" sz="2200" dirty="0"/>
          </a:p>
        </p:txBody>
      </p:sp>
      <p:sp>
        <p:nvSpPr>
          <p:cNvPr id="4" name="Shape 2"/>
          <p:cNvSpPr/>
          <p:nvPr/>
        </p:nvSpPr>
        <p:spPr>
          <a:xfrm>
            <a:off x="640080" y="1554480"/>
            <a:ext cx="5120640" cy="2011680"/>
          </a:xfrm>
          <a:prstGeom prst="roundRect">
            <a:avLst>
              <a:gd name="adj" fmla="val 3636"/>
            </a:avLst>
          </a:prstGeom>
          <a:solidFill>
            <a:srgbClr val="131B2E"/>
          </a:solidFill>
          <a:ln w="12700">
            <a:solidFill>
              <a:srgbClr val="1E293B"/>
            </a:solidFill>
            <a:prstDash val="solid"/>
          </a:ln>
        </p:spPr>
      </p:sp>
      <p:sp>
        <p:nvSpPr>
          <p:cNvPr id="5" name="Shape 3"/>
          <p:cNvSpPr/>
          <p:nvPr/>
        </p:nvSpPr>
        <p:spPr>
          <a:xfrm>
            <a:off x="914400" y="1783080"/>
            <a:ext cx="1005840" cy="292608"/>
          </a:xfrm>
          <a:prstGeom prst="roundRect">
            <a:avLst>
              <a:gd name="adj" fmla="val 50000"/>
            </a:avLst>
          </a:prstGeom>
          <a:solidFill>
            <a:srgbClr val="FBBF24">
              <a:alpha val="20000"/>
            </a:srgbClr>
          </a:solidFill>
          <a:ln/>
        </p:spPr>
      </p:sp>
      <p:sp>
        <p:nvSpPr>
          <p:cNvPr id="6" name="Text 4"/>
          <p:cNvSpPr/>
          <p:nvPr/>
        </p:nvSpPr>
        <p:spPr>
          <a:xfrm>
            <a:off x="914400" y="1783080"/>
            <a:ext cx="1005840" cy="292608"/>
          </a:xfrm>
          <a:prstGeom prst="rect">
            <a:avLst/>
          </a:prstGeom>
          <a:noFill/>
          <a:ln/>
        </p:spPr>
        <p:txBody>
          <a:bodyPr wrap="square" lIns="0" tIns="0" rIns="0" bIns="0" rtlCol="0" anchor="ctr"/>
          <a:lstStyle/>
          <a:p>
            <a:pPr algn="ctr" indent="0" marL="0">
              <a:buNone/>
            </a:pPr>
            <a:r>
              <a:rPr lang="en-US" sz="900" b="1" dirty="0">
                <a:solidFill>
                  <a:srgbClr val="FBBF24"/>
                </a:solidFill>
                <a:latin typeface="Consolas" pitchFamily="34" charset="0"/>
                <a:ea typeface="Consolas" pitchFamily="34" charset="-122"/>
                <a:cs typeface="Consolas" pitchFamily="34" charset="-120"/>
              </a:rPr>
              <a:t>HIGH</a:t>
            </a:r>
            <a:endParaRPr lang="en-US" sz="900" dirty="0"/>
          </a:p>
        </p:txBody>
      </p:sp>
      <p:sp>
        <p:nvSpPr>
          <p:cNvPr id="7" name="Text 5"/>
          <p:cNvSpPr/>
          <p:nvPr/>
        </p:nvSpPr>
        <p:spPr>
          <a:xfrm>
            <a:off x="914400" y="2176272"/>
            <a:ext cx="45720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Automation Kits serve as the core revenue driver with high yield per customer</a:t>
            </a:r>
            <a:endParaRPr lang="en-US" sz="1500" dirty="0"/>
          </a:p>
        </p:txBody>
      </p:sp>
      <p:sp>
        <p:nvSpPr>
          <p:cNvPr id="8" name="Text 6"/>
          <p:cNvSpPr/>
          <p:nvPr/>
        </p:nvSpPr>
        <p:spPr>
          <a:xfrm>
            <a:off x="914400" y="2697480"/>
            <a:ext cx="4572000" cy="777240"/>
          </a:xfrm>
          <a:prstGeom prst="rect">
            <a:avLst/>
          </a:prstGeom>
          <a:noFill/>
          <a:ln/>
        </p:spPr>
        <p:txBody>
          <a:bodyPr wrap="square" lIns="0" tIns="0" rIns="0" bIns="0" rtlCol="0" anchor="ctr"/>
          <a:lstStyle/>
          <a:p>
            <a:pPr indent="0" marL="0">
              <a:lnSpc>
                <a:spcPct val="125000"/>
              </a:lnSpc>
              <a:buNone/>
            </a:pPr>
            <a:r>
              <a:rPr lang="en-US" sz="1100" dirty="0">
                <a:solidFill>
                  <a:srgbClr val="94A3B8"/>
                </a:solidFill>
                <a:latin typeface="Arial" pitchFamily="34" charset="0"/>
                <a:ea typeface="Arial" pitchFamily="34" charset="-122"/>
                <a:cs typeface="Arial" pitchFamily="34" charset="-120"/>
              </a:rPr>
              <a:t>Automation Kits generated 47.0% of total revenue ($1.79M) and achieved the highest YoY growth (59.0%), despite accounting for only 8.1% of units sold and 15.5% of customers. Average revenue per customer for Automation Kits sits at ~$1,979, compared to ~$302 for Safety Equipment.</a:t>
            </a:r>
            <a:endParaRPr lang="en-US" sz="1100" dirty="0"/>
          </a:p>
        </p:txBody>
      </p:sp>
      <p:sp>
        <p:nvSpPr>
          <p:cNvPr id="9" name="Shape 7"/>
          <p:cNvSpPr/>
          <p:nvPr/>
        </p:nvSpPr>
        <p:spPr>
          <a:xfrm>
            <a:off x="6035040" y="1554480"/>
            <a:ext cx="5120640" cy="2011680"/>
          </a:xfrm>
          <a:prstGeom prst="roundRect">
            <a:avLst>
              <a:gd name="adj" fmla="val 3636"/>
            </a:avLst>
          </a:prstGeom>
          <a:solidFill>
            <a:srgbClr val="131B2E"/>
          </a:solidFill>
          <a:ln w="12700">
            <a:solidFill>
              <a:srgbClr val="1E293B"/>
            </a:solidFill>
            <a:prstDash val="solid"/>
          </a:ln>
        </p:spPr>
      </p:sp>
      <p:sp>
        <p:nvSpPr>
          <p:cNvPr id="10" name="Shape 8"/>
          <p:cNvSpPr/>
          <p:nvPr/>
        </p:nvSpPr>
        <p:spPr>
          <a:xfrm>
            <a:off x="6309360" y="1783080"/>
            <a:ext cx="1005840" cy="292608"/>
          </a:xfrm>
          <a:prstGeom prst="roundRect">
            <a:avLst>
              <a:gd name="adj" fmla="val 50000"/>
            </a:avLst>
          </a:prstGeom>
          <a:solidFill>
            <a:srgbClr val="FBBF24">
              <a:alpha val="20000"/>
            </a:srgbClr>
          </a:solidFill>
          <a:ln/>
        </p:spPr>
      </p:sp>
      <p:sp>
        <p:nvSpPr>
          <p:cNvPr id="11" name="Text 9"/>
          <p:cNvSpPr/>
          <p:nvPr/>
        </p:nvSpPr>
        <p:spPr>
          <a:xfrm>
            <a:off x="6309360" y="1783080"/>
            <a:ext cx="1005840" cy="292608"/>
          </a:xfrm>
          <a:prstGeom prst="rect">
            <a:avLst/>
          </a:prstGeom>
          <a:noFill/>
          <a:ln/>
        </p:spPr>
        <p:txBody>
          <a:bodyPr wrap="square" lIns="0" tIns="0" rIns="0" bIns="0" rtlCol="0" anchor="ctr"/>
          <a:lstStyle/>
          <a:p>
            <a:pPr algn="ctr" indent="0" marL="0">
              <a:buNone/>
            </a:pPr>
            <a:r>
              <a:rPr lang="en-US" sz="900" b="1" dirty="0">
                <a:solidFill>
                  <a:srgbClr val="FBBF24"/>
                </a:solidFill>
                <a:latin typeface="Consolas" pitchFamily="34" charset="0"/>
                <a:ea typeface="Consolas" pitchFamily="34" charset="-122"/>
                <a:cs typeface="Consolas" pitchFamily="34" charset="-120"/>
              </a:rPr>
              <a:t>HIGH</a:t>
            </a:r>
            <a:endParaRPr lang="en-US" sz="900" dirty="0"/>
          </a:p>
        </p:txBody>
      </p:sp>
      <p:sp>
        <p:nvSpPr>
          <p:cNvPr id="12" name="Text 10"/>
          <p:cNvSpPr/>
          <p:nvPr/>
        </p:nvSpPr>
        <p:spPr>
          <a:xfrm>
            <a:off x="6309360" y="2176272"/>
            <a:ext cx="45720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South region exhibits severe price erosion and negative growth despite high volume</a:t>
            </a:r>
            <a:endParaRPr lang="en-US" sz="1500" dirty="0"/>
          </a:p>
        </p:txBody>
      </p:sp>
      <p:sp>
        <p:nvSpPr>
          <p:cNvPr id="13" name="Text 11"/>
          <p:cNvSpPr/>
          <p:nvPr/>
        </p:nvSpPr>
        <p:spPr>
          <a:xfrm>
            <a:off x="6309360" y="2697480"/>
            <a:ext cx="4572000" cy="777240"/>
          </a:xfrm>
          <a:prstGeom prst="rect">
            <a:avLst/>
          </a:prstGeom>
          <a:noFill/>
          <a:ln/>
        </p:spPr>
        <p:txBody>
          <a:bodyPr wrap="square" lIns="0" tIns="0" rIns="0" bIns="0" rtlCol="0" anchor="ctr"/>
          <a:lstStyle/>
          <a:p>
            <a:pPr indent="0" marL="0">
              <a:lnSpc>
                <a:spcPct val="125000"/>
              </a:lnSpc>
              <a:buNone/>
            </a:pPr>
            <a:r>
              <a:rPr lang="en-US" sz="1100" dirty="0">
                <a:solidFill>
                  <a:srgbClr val="94A3B8"/>
                </a:solidFill>
                <a:latin typeface="Arial" pitchFamily="34" charset="0"/>
                <a:ea typeface="Arial" pitchFamily="34" charset="-122"/>
                <a:cs typeface="Arial" pitchFamily="34" charset="-120"/>
              </a:rPr>
              <a:t>The South region is the only declining market with -16.9% YoY growth and the lowest revenue ($565K), despite recording the second-highest unit sales (7,233 units). Its average revenue per unit (~$78) is roughly half that of the North (~$155), pointing to deep discounting or an over-reliance on low-margin products.</a:t>
            </a:r>
            <a:endParaRPr lang="en-US" sz="1100" dirty="0"/>
          </a:p>
        </p:txBody>
      </p:sp>
      <p:sp>
        <p:nvSpPr>
          <p:cNvPr id="14" name="Shape 12"/>
          <p:cNvSpPr/>
          <p:nvPr/>
        </p:nvSpPr>
        <p:spPr>
          <a:xfrm>
            <a:off x="640080" y="3840480"/>
            <a:ext cx="5120640" cy="2011680"/>
          </a:xfrm>
          <a:prstGeom prst="roundRect">
            <a:avLst>
              <a:gd name="adj" fmla="val 3636"/>
            </a:avLst>
          </a:prstGeom>
          <a:solidFill>
            <a:srgbClr val="131B2E"/>
          </a:solidFill>
          <a:ln w="12700">
            <a:solidFill>
              <a:srgbClr val="1E293B"/>
            </a:solidFill>
            <a:prstDash val="solid"/>
          </a:ln>
        </p:spPr>
      </p:sp>
      <p:sp>
        <p:nvSpPr>
          <p:cNvPr id="15" name="Shape 13"/>
          <p:cNvSpPr/>
          <p:nvPr/>
        </p:nvSpPr>
        <p:spPr>
          <a:xfrm>
            <a:off x="914400" y="4069080"/>
            <a:ext cx="1005840" cy="292608"/>
          </a:xfrm>
          <a:prstGeom prst="roundRect">
            <a:avLst>
              <a:gd name="adj" fmla="val 50000"/>
            </a:avLst>
          </a:prstGeom>
          <a:solidFill>
            <a:srgbClr val="2DD4BF">
              <a:alpha val="20000"/>
            </a:srgbClr>
          </a:solidFill>
          <a:ln/>
        </p:spPr>
      </p:sp>
      <p:sp>
        <p:nvSpPr>
          <p:cNvPr id="16" name="Text 14"/>
          <p:cNvSpPr/>
          <p:nvPr/>
        </p:nvSpPr>
        <p:spPr>
          <a:xfrm>
            <a:off x="914400" y="4069080"/>
            <a:ext cx="1005840" cy="292608"/>
          </a:xfrm>
          <a:prstGeom prst="rect">
            <a:avLst/>
          </a:prstGeom>
          <a:noFill/>
          <a:ln/>
        </p:spPr>
        <p:txBody>
          <a:bodyPr wrap="square" lIns="0" tIns="0" rIns="0" bIns="0" rtlCol="0" anchor="ctr"/>
          <a:lstStyle/>
          <a:p>
            <a:pPr algn="ctr" indent="0" marL="0">
              <a:buNone/>
            </a:pPr>
            <a:r>
              <a:rPr lang="en-US" sz="900" b="1" dirty="0">
                <a:solidFill>
                  <a:srgbClr val="2DD4BF"/>
                </a:solidFill>
                <a:latin typeface="Consolas" pitchFamily="34" charset="0"/>
                <a:ea typeface="Consolas" pitchFamily="34" charset="-122"/>
                <a:cs typeface="Consolas" pitchFamily="34" charset="-120"/>
              </a:rPr>
              <a:t>MEDIUM</a:t>
            </a:r>
            <a:endParaRPr lang="en-US" sz="900" dirty="0"/>
          </a:p>
        </p:txBody>
      </p:sp>
      <p:sp>
        <p:nvSpPr>
          <p:cNvPr id="17" name="Text 15"/>
          <p:cNvSpPr/>
          <p:nvPr/>
        </p:nvSpPr>
        <p:spPr>
          <a:xfrm>
            <a:off x="914400" y="4462272"/>
            <a:ext cx="45720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West region on trajectory to displace North as the leading market</a:t>
            </a:r>
            <a:endParaRPr lang="en-US" sz="1500" dirty="0"/>
          </a:p>
        </p:txBody>
      </p:sp>
      <p:sp>
        <p:nvSpPr>
          <p:cNvPr id="18" name="Text 16"/>
          <p:cNvSpPr/>
          <p:nvPr/>
        </p:nvSpPr>
        <p:spPr>
          <a:xfrm>
            <a:off x="914400" y="4983480"/>
            <a:ext cx="4572000" cy="777240"/>
          </a:xfrm>
          <a:prstGeom prst="rect">
            <a:avLst/>
          </a:prstGeom>
          <a:noFill/>
          <a:ln/>
        </p:spPr>
        <p:txBody>
          <a:bodyPr wrap="square" lIns="0" tIns="0" rIns="0" bIns="0" rtlCol="0" anchor="ctr"/>
          <a:lstStyle/>
          <a:p>
            <a:pPr indent="0" marL="0">
              <a:lnSpc>
                <a:spcPct val="125000"/>
              </a:lnSpc>
              <a:buNone/>
            </a:pPr>
            <a:r>
              <a:rPr lang="en-US" sz="1100" dirty="0">
                <a:solidFill>
                  <a:srgbClr val="94A3B8"/>
                </a:solidFill>
                <a:latin typeface="Arial" pitchFamily="34" charset="0"/>
                <a:ea typeface="Arial" pitchFamily="34" charset="-122"/>
                <a:cs typeface="Arial" pitchFamily="34" charset="-120"/>
              </a:rPr>
              <a:t>While North currently leads in total revenue ($1.21M vs $1.18M), West is outpacing it in growth rate (57.4% vs 38.9% YoY) and active customer count (1,723 vs 1,638). At current trajectories, West will become the highest-grossing region in Q3.</a:t>
            </a:r>
            <a:endParaRPr lang="en-US" sz="1100" dirty="0"/>
          </a:p>
        </p:txBody>
      </p:sp>
      <p:sp>
        <p:nvSpPr>
          <p:cNvPr id="19" name="Shape 17"/>
          <p:cNvSpPr/>
          <p:nvPr/>
        </p:nvSpPr>
        <p:spPr>
          <a:xfrm>
            <a:off x="6035040" y="3840480"/>
            <a:ext cx="5120640" cy="2011680"/>
          </a:xfrm>
          <a:prstGeom prst="roundRect">
            <a:avLst>
              <a:gd name="adj" fmla="val 3636"/>
            </a:avLst>
          </a:prstGeom>
          <a:solidFill>
            <a:srgbClr val="131B2E"/>
          </a:solidFill>
          <a:ln w="12700">
            <a:solidFill>
              <a:srgbClr val="1E293B"/>
            </a:solidFill>
            <a:prstDash val="solid"/>
          </a:ln>
        </p:spPr>
      </p:sp>
      <p:sp>
        <p:nvSpPr>
          <p:cNvPr id="20" name="Shape 18"/>
          <p:cNvSpPr/>
          <p:nvPr/>
        </p:nvSpPr>
        <p:spPr>
          <a:xfrm>
            <a:off x="6309360" y="4069080"/>
            <a:ext cx="1005840" cy="292608"/>
          </a:xfrm>
          <a:prstGeom prst="roundRect">
            <a:avLst>
              <a:gd name="adj" fmla="val 50000"/>
            </a:avLst>
          </a:prstGeom>
          <a:solidFill>
            <a:srgbClr val="2DD4BF">
              <a:alpha val="20000"/>
            </a:srgbClr>
          </a:solidFill>
          <a:ln/>
        </p:spPr>
      </p:sp>
      <p:sp>
        <p:nvSpPr>
          <p:cNvPr id="21" name="Text 19"/>
          <p:cNvSpPr/>
          <p:nvPr/>
        </p:nvSpPr>
        <p:spPr>
          <a:xfrm>
            <a:off x="6309360" y="4069080"/>
            <a:ext cx="1005840" cy="292608"/>
          </a:xfrm>
          <a:prstGeom prst="rect">
            <a:avLst/>
          </a:prstGeom>
          <a:noFill/>
          <a:ln/>
        </p:spPr>
        <p:txBody>
          <a:bodyPr wrap="square" lIns="0" tIns="0" rIns="0" bIns="0" rtlCol="0" anchor="ctr"/>
          <a:lstStyle/>
          <a:p>
            <a:pPr algn="ctr" indent="0" marL="0">
              <a:buNone/>
            </a:pPr>
            <a:r>
              <a:rPr lang="en-US" sz="900" b="1" dirty="0">
                <a:solidFill>
                  <a:srgbClr val="2DD4BF"/>
                </a:solidFill>
                <a:latin typeface="Consolas" pitchFamily="34" charset="0"/>
                <a:ea typeface="Consolas" pitchFamily="34" charset="-122"/>
                <a:cs typeface="Consolas" pitchFamily="34" charset="-120"/>
              </a:rPr>
              <a:t>MEDIUM</a:t>
            </a:r>
            <a:endParaRPr lang="en-US" sz="900" dirty="0"/>
          </a:p>
        </p:txBody>
      </p:sp>
      <p:sp>
        <p:nvSpPr>
          <p:cNvPr id="22" name="Text 20"/>
          <p:cNvSpPr/>
          <p:nvPr/>
        </p:nvSpPr>
        <p:spPr>
          <a:xfrm>
            <a:off x="6309360" y="4462272"/>
            <a:ext cx="45720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Safety Equipment customer base offers significant cross-selling potential</a:t>
            </a:r>
            <a:endParaRPr lang="en-US" sz="1500" dirty="0"/>
          </a:p>
        </p:txBody>
      </p:sp>
      <p:sp>
        <p:nvSpPr>
          <p:cNvPr id="23" name="Text 21"/>
          <p:cNvSpPr/>
          <p:nvPr/>
        </p:nvSpPr>
        <p:spPr>
          <a:xfrm>
            <a:off x="6309360" y="4983480"/>
            <a:ext cx="4572000" cy="777240"/>
          </a:xfrm>
          <a:prstGeom prst="rect">
            <a:avLst/>
          </a:prstGeom>
          <a:noFill/>
          <a:ln/>
        </p:spPr>
        <p:txBody>
          <a:bodyPr wrap="square" lIns="0" tIns="0" rIns="0" bIns="0" rtlCol="0" anchor="ctr"/>
          <a:lstStyle/>
          <a:p>
            <a:pPr indent="0" marL="0">
              <a:lnSpc>
                <a:spcPct val="125000"/>
              </a:lnSpc>
              <a:buNone/>
            </a:pPr>
            <a:r>
              <a:rPr lang="en-US" sz="1100" dirty="0">
                <a:solidFill>
                  <a:srgbClr val="94A3B8"/>
                </a:solidFill>
                <a:latin typeface="Arial" pitchFamily="34" charset="0"/>
                <a:ea typeface="Arial" pitchFamily="34" charset="-122"/>
                <a:cs typeface="Arial" pitchFamily="34" charset="-120"/>
              </a:rPr>
              <a:t>Safety Equipment accounts for 62.9% of all units sold and engages 41.7% of total customers (2,438), but yields only 19.4% of total revenue. This high-volume, low-margin segment provides a prime target audience for cross-selling higher-margin Industrial Tools or Automation Kits.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00" spc="200" kern="0" dirty="0">
                <a:solidFill>
                  <a:srgbClr val="0F766E"/>
                </a:solidFill>
                <a:latin typeface="Consolas" pitchFamily="34" charset="0"/>
                <a:ea typeface="Consolas" pitchFamily="34" charset="-122"/>
                <a:cs typeface="Consolas" pitchFamily="34" charset="-120"/>
              </a:rPr>
              <a:t>SUPPORTING DATA</a:t>
            </a:r>
            <a:endParaRPr lang="en-US" sz="1200" dirty="0"/>
          </a:p>
        </p:txBody>
      </p:sp>
      <p:sp>
        <p:nvSpPr>
          <p:cNvPr id="3" name="Text 1"/>
          <p:cNvSpPr/>
          <p:nvPr/>
        </p:nvSpPr>
        <p:spPr>
          <a:xfrm>
            <a:off x="640080" y="777240"/>
            <a:ext cx="8229600" cy="457200"/>
          </a:xfrm>
          <a:prstGeom prst="rect">
            <a:avLst/>
          </a:prstGeom>
          <a:noFill/>
          <a:ln/>
        </p:spPr>
        <p:txBody>
          <a:bodyPr wrap="square"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Revenue by Region</a:t>
            </a:r>
            <a:endParaRPr lang="en-US" sz="2200" dirty="0"/>
          </a:p>
        </p:txBody>
      </p:sp>
      <p:graphicFrame>
        <p:nvGraphicFramePr>
          <p:cNvPr id="4" name="Chart 0" descr=""/>
          <p:cNvGraphicFramePr/>
          <p:nvPr/>
        </p:nvGraphicFramePr>
        <p:xfrm>
          <a:off x="640080" y="1463040"/>
          <a:ext cx="1051560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6126480"/>
            <a:ext cx="10058400" cy="36576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South is the only region below its regional peers on both revenue and growth.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200" spc="200" kern="0" dirty="0">
                <a:solidFill>
                  <a:srgbClr val="2DD4BF"/>
                </a:solidFill>
                <a:latin typeface="Consolas" pitchFamily="34" charset="0"/>
                <a:ea typeface="Consolas" pitchFamily="34" charset="-122"/>
                <a:cs typeface="Consolas" pitchFamily="34" charset="-120"/>
              </a:rPr>
              <a:t>RECOMMENDATIONS</a:t>
            </a:r>
            <a:endParaRPr lang="en-US" sz="1200" dirty="0"/>
          </a:p>
        </p:txBody>
      </p:sp>
      <p:sp>
        <p:nvSpPr>
          <p:cNvPr id="3" name="Text 1"/>
          <p:cNvSpPr/>
          <p:nvPr/>
        </p:nvSpPr>
        <p:spPr>
          <a:xfrm>
            <a:off x="640080" y="777240"/>
            <a:ext cx="822960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What the Strategy Agent proposes</a:t>
            </a:r>
            <a:endParaRPr lang="en-US" sz="2200" dirty="0"/>
          </a:p>
        </p:txBody>
      </p:sp>
      <p:sp>
        <p:nvSpPr>
          <p:cNvPr id="4" name="Shape 2"/>
          <p:cNvSpPr/>
          <p:nvPr/>
        </p:nvSpPr>
        <p:spPr>
          <a:xfrm>
            <a:off x="640080" y="1600200"/>
            <a:ext cx="10515600" cy="1417320"/>
          </a:xfrm>
          <a:prstGeom prst="roundRect">
            <a:avLst>
              <a:gd name="adj" fmla="val 5161"/>
            </a:avLst>
          </a:prstGeom>
          <a:solidFill>
            <a:srgbClr val="131B2E"/>
          </a:solidFill>
          <a:ln w="12700">
            <a:solidFill>
              <a:srgbClr val="1E293B"/>
            </a:solidFill>
            <a:prstDash val="solid"/>
          </a:ln>
        </p:spPr>
      </p:sp>
      <p:sp>
        <p:nvSpPr>
          <p:cNvPr id="5" name="Shape 3"/>
          <p:cNvSpPr/>
          <p:nvPr/>
        </p:nvSpPr>
        <p:spPr>
          <a:xfrm>
            <a:off x="868680" y="1874520"/>
            <a:ext cx="502920" cy="502920"/>
          </a:xfrm>
          <a:prstGeom prst="ellipse">
            <a:avLst/>
          </a:prstGeom>
          <a:solidFill>
            <a:srgbClr val="2DD4BF">
              <a:alpha val="15000"/>
            </a:srgbClr>
          </a:solidFill>
          <a:ln w="12700">
            <a:solidFill>
              <a:srgbClr val="2DD4BF"/>
            </a:solidFill>
            <a:prstDash val="solid"/>
          </a:ln>
        </p:spPr>
      </p:sp>
      <p:sp>
        <p:nvSpPr>
          <p:cNvPr id="6" name="Text 4"/>
          <p:cNvSpPr/>
          <p:nvPr/>
        </p:nvSpPr>
        <p:spPr>
          <a:xfrm>
            <a:off x="868680" y="1874520"/>
            <a:ext cx="502920" cy="502920"/>
          </a:xfrm>
          <a:prstGeom prst="rect">
            <a:avLst/>
          </a:prstGeom>
          <a:noFill/>
          <a:ln/>
        </p:spPr>
        <p:txBody>
          <a:bodyPr wrap="square" lIns="0" tIns="0" rIns="0" bIns="0" rtlCol="0" anchor="ctr"/>
          <a:lstStyle/>
          <a:p>
            <a:pPr algn="ctr" indent="0" marL="0">
              <a:buNone/>
            </a:pPr>
            <a:r>
              <a:rPr lang="en-US" sz="1600" b="1" dirty="0">
                <a:solidFill>
                  <a:srgbClr val="2DD4BF"/>
                </a:solidFill>
                <a:latin typeface="Consolas" pitchFamily="34" charset="0"/>
                <a:ea typeface="Consolas" pitchFamily="34" charset="-122"/>
                <a:cs typeface="Consolas" pitchFamily="34" charset="-120"/>
              </a:rPr>
              <a:t>1</a:t>
            </a:r>
            <a:endParaRPr lang="en-US" sz="1600" dirty="0"/>
          </a:p>
        </p:txBody>
      </p:sp>
      <p:sp>
        <p:nvSpPr>
          <p:cNvPr id="7" name="Text 5"/>
          <p:cNvSpPr/>
          <p:nvPr/>
        </p:nvSpPr>
        <p:spPr>
          <a:xfrm>
            <a:off x="1554480" y="1737360"/>
            <a:ext cx="932688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Cross-Sell Automation Kits to Safety Equipment Customers</a:t>
            </a:r>
            <a:endParaRPr lang="en-US" sz="1500" dirty="0"/>
          </a:p>
        </p:txBody>
      </p:sp>
      <p:sp>
        <p:nvSpPr>
          <p:cNvPr id="8" name="Text 6"/>
          <p:cNvSpPr/>
          <p:nvPr/>
        </p:nvSpPr>
        <p:spPr>
          <a:xfrm>
            <a:off x="1554480" y="2103120"/>
            <a:ext cx="9326880" cy="411480"/>
          </a:xfrm>
          <a:prstGeom prst="rect">
            <a:avLst/>
          </a:prstGeom>
          <a:noFill/>
          <a:ln/>
        </p:spPr>
        <p:txBody>
          <a:bodyPr wrap="square" lIns="0" tIns="0" rIns="0" bIns="0" rtlCol="0" anchor="ctr"/>
          <a:lstStyle/>
          <a:p>
            <a:pPr indent="0" marL="0">
              <a:buNone/>
            </a:pPr>
            <a:r>
              <a:rPr lang="en-US" sz="1150" dirty="0">
                <a:solidFill>
                  <a:srgbClr val="94A3B8"/>
                </a:solidFill>
                <a:latin typeface="Arial" pitchFamily="34" charset="0"/>
                <a:ea typeface="Arial" pitchFamily="34" charset="-122"/>
                <a:cs typeface="Arial" pitchFamily="34" charset="-120"/>
              </a:rPr>
              <a:t>Launch a targeted cross-selling initiative aimed at the 2,438 Safety Equipment customers, utilizing bundled offers and ROI-focused campaigns to transition them to high-yield Automation Kits.</a:t>
            </a:r>
            <a:endParaRPr lang="en-US" sz="1150" dirty="0"/>
          </a:p>
        </p:txBody>
      </p:sp>
      <p:sp>
        <p:nvSpPr>
          <p:cNvPr id="9" name="Text 7"/>
          <p:cNvSpPr/>
          <p:nvPr/>
        </p:nvSpPr>
        <p:spPr>
          <a:xfrm>
            <a:off x="1554480" y="2514600"/>
            <a:ext cx="9326880" cy="411480"/>
          </a:xfrm>
          <a:prstGeom prst="rect">
            <a:avLst/>
          </a:prstGeom>
          <a:noFill/>
          <a:ln/>
        </p:spPr>
        <p:txBody>
          <a:bodyPr wrap="square" lIns="0" tIns="0" rIns="0" bIns="0" rtlCol="0" anchor="ctr"/>
          <a:lstStyle/>
          <a:p>
            <a:pPr indent="0" marL="0">
              <a:buNone/>
            </a:pPr>
            <a:r>
              <a:rPr lang="en-US" sz="1050" i="1" dirty="0">
                <a:solidFill>
                  <a:srgbClr val="2DD4BF"/>
                </a:solidFill>
                <a:latin typeface="Arial" pitchFamily="34" charset="0"/>
                <a:ea typeface="Arial" pitchFamily="34" charset="-122"/>
                <a:cs typeface="Arial" pitchFamily="34" charset="-120"/>
              </a:rPr>
              <a:t>Expected impact: Unlocks exponential revenue growth by converting a broad base of low-yield customers into high-ARPU ($1,979) Automation Kit accounts.</a:t>
            </a:r>
            <a:endParaRPr lang="en-US" sz="1050" dirty="0"/>
          </a:p>
        </p:txBody>
      </p:sp>
      <p:sp>
        <p:nvSpPr>
          <p:cNvPr id="10" name="Shape 8"/>
          <p:cNvSpPr/>
          <p:nvPr/>
        </p:nvSpPr>
        <p:spPr>
          <a:xfrm>
            <a:off x="640080" y="3154680"/>
            <a:ext cx="10515600" cy="1417320"/>
          </a:xfrm>
          <a:prstGeom prst="roundRect">
            <a:avLst>
              <a:gd name="adj" fmla="val 5161"/>
            </a:avLst>
          </a:prstGeom>
          <a:solidFill>
            <a:srgbClr val="131B2E"/>
          </a:solidFill>
          <a:ln w="12700">
            <a:solidFill>
              <a:srgbClr val="1E293B"/>
            </a:solidFill>
            <a:prstDash val="solid"/>
          </a:ln>
        </p:spPr>
      </p:sp>
      <p:sp>
        <p:nvSpPr>
          <p:cNvPr id="11" name="Shape 9"/>
          <p:cNvSpPr/>
          <p:nvPr/>
        </p:nvSpPr>
        <p:spPr>
          <a:xfrm>
            <a:off x="868680" y="3429000"/>
            <a:ext cx="502920" cy="502920"/>
          </a:xfrm>
          <a:prstGeom prst="ellipse">
            <a:avLst/>
          </a:prstGeom>
          <a:solidFill>
            <a:srgbClr val="2DD4BF">
              <a:alpha val="15000"/>
            </a:srgbClr>
          </a:solidFill>
          <a:ln w="12700">
            <a:solidFill>
              <a:srgbClr val="2DD4BF"/>
            </a:solidFill>
            <a:prstDash val="solid"/>
          </a:ln>
        </p:spPr>
      </p:sp>
      <p:sp>
        <p:nvSpPr>
          <p:cNvPr id="12" name="Text 10"/>
          <p:cNvSpPr/>
          <p:nvPr/>
        </p:nvSpPr>
        <p:spPr>
          <a:xfrm>
            <a:off x="868680" y="3429000"/>
            <a:ext cx="502920" cy="502920"/>
          </a:xfrm>
          <a:prstGeom prst="rect">
            <a:avLst/>
          </a:prstGeom>
          <a:noFill/>
          <a:ln/>
        </p:spPr>
        <p:txBody>
          <a:bodyPr wrap="square" lIns="0" tIns="0" rIns="0" bIns="0" rtlCol="0" anchor="ctr"/>
          <a:lstStyle/>
          <a:p>
            <a:pPr algn="ctr" indent="0" marL="0">
              <a:buNone/>
            </a:pPr>
            <a:r>
              <a:rPr lang="en-US" sz="1600" b="1" dirty="0">
                <a:solidFill>
                  <a:srgbClr val="2DD4BF"/>
                </a:solidFill>
                <a:latin typeface="Consolas" pitchFamily="34" charset="0"/>
                <a:ea typeface="Consolas" pitchFamily="34" charset="-122"/>
                <a:cs typeface="Consolas" pitchFamily="34" charset="-120"/>
              </a:rPr>
              <a:t>2</a:t>
            </a:r>
            <a:endParaRPr lang="en-US" sz="1600" dirty="0"/>
          </a:p>
        </p:txBody>
      </p:sp>
      <p:sp>
        <p:nvSpPr>
          <p:cNvPr id="13" name="Text 11"/>
          <p:cNvSpPr/>
          <p:nvPr/>
        </p:nvSpPr>
        <p:spPr>
          <a:xfrm>
            <a:off x="1554480" y="3291840"/>
            <a:ext cx="932688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Overhaul Pricing Guardrails and Product Mix in the South</a:t>
            </a:r>
            <a:endParaRPr lang="en-US" sz="1500" dirty="0"/>
          </a:p>
        </p:txBody>
      </p:sp>
      <p:sp>
        <p:nvSpPr>
          <p:cNvPr id="14" name="Text 12"/>
          <p:cNvSpPr/>
          <p:nvPr/>
        </p:nvSpPr>
        <p:spPr>
          <a:xfrm>
            <a:off x="1554480" y="3657600"/>
            <a:ext cx="9326880" cy="411480"/>
          </a:xfrm>
          <a:prstGeom prst="rect">
            <a:avLst/>
          </a:prstGeom>
          <a:noFill/>
          <a:ln/>
        </p:spPr>
        <p:txBody>
          <a:bodyPr wrap="square" lIns="0" tIns="0" rIns="0" bIns="0" rtlCol="0" anchor="ctr"/>
          <a:lstStyle/>
          <a:p>
            <a:pPr indent="0" marL="0">
              <a:buNone/>
            </a:pPr>
            <a:r>
              <a:rPr lang="en-US" sz="1150" dirty="0">
                <a:solidFill>
                  <a:srgbClr val="94A3B8"/>
                </a:solidFill>
                <a:latin typeface="Arial" pitchFamily="34" charset="0"/>
                <a:ea typeface="Arial" pitchFamily="34" charset="-122"/>
                <a:cs typeface="Arial" pitchFamily="34" charset="-120"/>
              </a:rPr>
              <a:t>Implement strict floor-pricing policies to eliminate excessive discounting, while reorienting the regional sales team from low-margin volume products to value-added bundles.</a:t>
            </a:r>
            <a:endParaRPr lang="en-US" sz="1150" dirty="0"/>
          </a:p>
        </p:txBody>
      </p:sp>
      <p:sp>
        <p:nvSpPr>
          <p:cNvPr id="15" name="Text 13"/>
          <p:cNvSpPr/>
          <p:nvPr/>
        </p:nvSpPr>
        <p:spPr>
          <a:xfrm>
            <a:off x="1554480" y="4069080"/>
            <a:ext cx="9326880" cy="411480"/>
          </a:xfrm>
          <a:prstGeom prst="rect">
            <a:avLst/>
          </a:prstGeom>
          <a:noFill/>
          <a:ln/>
        </p:spPr>
        <p:txBody>
          <a:bodyPr wrap="square" lIns="0" tIns="0" rIns="0" bIns="0" rtlCol="0" anchor="ctr"/>
          <a:lstStyle/>
          <a:p>
            <a:pPr indent="0" marL="0">
              <a:buNone/>
            </a:pPr>
            <a:r>
              <a:rPr lang="en-US" sz="1050" i="1" dirty="0">
                <a:solidFill>
                  <a:srgbClr val="2DD4BF"/>
                </a:solidFill>
                <a:latin typeface="Arial" pitchFamily="34" charset="0"/>
                <a:ea typeface="Arial" pitchFamily="34" charset="-122"/>
                <a:cs typeface="Arial" pitchFamily="34" charset="-120"/>
              </a:rPr>
              <a:t>Expected impact: Reverses the -16.9% YoY revenue decline in the South and elevates average unit realization closer to the North region's ~$155 benchmark.</a:t>
            </a:r>
            <a:endParaRPr lang="en-US" sz="1050" dirty="0"/>
          </a:p>
        </p:txBody>
      </p:sp>
      <p:sp>
        <p:nvSpPr>
          <p:cNvPr id="16" name="Shape 14"/>
          <p:cNvSpPr/>
          <p:nvPr/>
        </p:nvSpPr>
        <p:spPr>
          <a:xfrm>
            <a:off x="640080" y="4709160"/>
            <a:ext cx="10515600" cy="1417320"/>
          </a:xfrm>
          <a:prstGeom prst="roundRect">
            <a:avLst>
              <a:gd name="adj" fmla="val 5161"/>
            </a:avLst>
          </a:prstGeom>
          <a:solidFill>
            <a:srgbClr val="131B2E"/>
          </a:solidFill>
          <a:ln w="12700">
            <a:solidFill>
              <a:srgbClr val="1E293B"/>
            </a:solidFill>
            <a:prstDash val="solid"/>
          </a:ln>
        </p:spPr>
      </p:sp>
      <p:sp>
        <p:nvSpPr>
          <p:cNvPr id="17" name="Shape 15"/>
          <p:cNvSpPr/>
          <p:nvPr/>
        </p:nvSpPr>
        <p:spPr>
          <a:xfrm>
            <a:off x="868680" y="4983480"/>
            <a:ext cx="502920" cy="502920"/>
          </a:xfrm>
          <a:prstGeom prst="ellipse">
            <a:avLst/>
          </a:prstGeom>
          <a:solidFill>
            <a:srgbClr val="2DD4BF">
              <a:alpha val="15000"/>
            </a:srgbClr>
          </a:solidFill>
          <a:ln w="12700">
            <a:solidFill>
              <a:srgbClr val="2DD4BF"/>
            </a:solidFill>
            <a:prstDash val="solid"/>
          </a:ln>
        </p:spPr>
      </p:sp>
      <p:sp>
        <p:nvSpPr>
          <p:cNvPr id="18" name="Text 16"/>
          <p:cNvSpPr/>
          <p:nvPr/>
        </p:nvSpPr>
        <p:spPr>
          <a:xfrm>
            <a:off x="868680" y="4983480"/>
            <a:ext cx="502920" cy="502920"/>
          </a:xfrm>
          <a:prstGeom prst="rect">
            <a:avLst/>
          </a:prstGeom>
          <a:noFill/>
          <a:ln/>
        </p:spPr>
        <p:txBody>
          <a:bodyPr wrap="square" lIns="0" tIns="0" rIns="0" bIns="0" rtlCol="0" anchor="ctr"/>
          <a:lstStyle/>
          <a:p>
            <a:pPr algn="ctr" indent="0" marL="0">
              <a:buNone/>
            </a:pPr>
            <a:r>
              <a:rPr lang="en-US" sz="1600" b="1" dirty="0">
                <a:solidFill>
                  <a:srgbClr val="2DD4BF"/>
                </a:solidFill>
                <a:latin typeface="Consolas" pitchFamily="34" charset="0"/>
                <a:ea typeface="Consolas" pitchFamily="34" charset="-122"/>
                <a:cs typeface="Consolas" pitchFamily="34" charset="-120"/>
              </a:rPr>
              <a:t>3</a:t>
            </a:r>
            <a:endParaRPr lang="en-US" sz="1600" dirty="0"/>
          </a:p>
        </p:txBody>
      </p:sp>
      <p:sp>
        <p:nvSpPr>
          <p:cNvPr id="19" name="Text 17"/>
          <p:cNvSpPr/>
          <p:nvPr/>
        </p:nvSpPr>
        <p:spPr>
          <a:xfrm>
            <a:off x="1554480" y="4846320"/>
            <a:ext cx="932688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Reallocate Growth Capital to Accelerate West Region Expansion</a:t>
            </a:r>
            <a:endParaRPr lang="en-US" sz="1500" dirty="0"/>
          </a:p>
        </p:txBody>
      </p:sp>
      <p:sp>
        <p:nvSpPr>
          <p:cNvPr id="20" name="Text 18"/>
          <p:cNvSpPr/>
          <p:nvPr/>
        </p:nvSpPr>
        <p:spPr>
          <a:xfrm>
            <a:off x="1554480" y="5212080"/>
            <a:ext cx="9326880" cy="411480"/>
          </a:xfrm>
          <a:prstGeom prst="rect">
            <a:avLst/>
          </a:prstGeom>
          <a:noFill/>
          <a:ln/>
        </p:spPr>
        <p:txBody>
          <a:bodyPr wrap="square" lIns="0" tIns="0" rIns="0" bIns="0" rtlCol="0" anchor="ctr"/>
          <a:lstStyle/>
          <a:p>
            <a:pPr indent="0" marL="0">
              <a:buNone/>
            </a:pPr>
            <a:r>
              <a:rPr lang="en-US" sz="1150" dirty="0">
                <a:solidFill>
                  <a:srgbClr val="94A3B8"/>
                </a:solidFill>
                <a:latin typeface="Arial" pitchFamily="34" charset="0"/>
                <a:ea typeface="Arial" pitchFamily="34" charset="-122"/>
                <a:cs typeface="Arial" pitchFamily="34" charset="-120"/>
              </a:rPr>
              <a:t>Shift sales coverage and field marketing budgets into the West region to capitalize on strong market momentum (+57.4% YoY growth) and expanding customer acquisition.</a:t>
            </a:r>
            <a:endParaRPr lang="en-US" sz="1150" dirty="0"/>
          </a:p>
        </p:txBody>
      </p:sp>
      <p:sp>
        <p:nvSpPr>
          <p:cNvPr id="21" name="Text 19"/>
          <p:cNvSpPr/>
          <p:nvPr/>
        </p:nvSpPr>
        <p:spPr>
          <a:xfrm>
            <a:off x="1554480" y="5623560"/>
            <a:ext cx="9326880" cy="411480"/>
          </a:xfrm>
          <a:prstGeom prst="rect">
            <a:avLst/>
          </a:prstGeom>
          <a:noFill/>
          <a:ln/>
        </p:spPr>
        <p:txBody>
          <a:bodyPr wrap="square" lIns="0" tIns="0" rIns="0" bIns="0" rtlCol="0" anchor="ctr"/>
          <a:lstStyle/>
          <a:p>
            <a:pPr indent="0" marL="0">
              <a:buNone/>
            </a:pPr>
            <a:r>
              <a:rPr lang="en-US" sz="1050" i="1" dirty="0">
                <a:solidFill>
                  <a:srgbClr val="2DD4BF"/>
                </a:solidFill>
                <a:latin typeface="Arial" pitchFamily="34" charset="0"/>
                <a:ea typeface="Arial" pitchFamily="34" charset="-122"/>
                <a:cs typeface="Arial" pitchFamily="34" charset="-120"/>
              </a:rPr>
              <a:t>Expected impact: Solidifies the West region's trajectory to displace the North as the primary revenue driver by Q3, maximizing enterprise growth.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2026-08-16T15:12:09Z</dcterms:created>
  <dcterms:modified xsi:type="dcterms:W3CDTF">2026-08-16T15:12:09Z</dcterms:modified>
</cp:coreProperties>
</file>